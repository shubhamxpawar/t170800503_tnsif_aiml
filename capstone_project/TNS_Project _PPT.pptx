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3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28C6-0C61-45AD-9FA5-B2376EF10786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3D8421-08C3-48BB-957A-9FF9DF3E8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85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D8421-08C3-48BB-957A-9FF9DF3E89C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101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D8421-08C3-48BB-957A-9FF9DF3E89C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470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67F0A-5FDC-C907-DA49-EB453CF4B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263321-6A44-9E85-E754-A4EF8E889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A0B0A-1DA6-FACC-6525-220D649DD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8E98-469D-4687-81D9-D782DA9E601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3021F-B7BA-52EA-1086-6FF93C14F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70F11-89A2-510F-1C1F-FA19AF13B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5414-C09E-414B-B5A3-5939AD2CA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21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D83F1-15DC-DF77-8AB7-49731479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B3D08-B348-3221-B270-BEF861DC8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C301C-5596-CFD8-9856-A8D14468E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8E98-469D-4687-81D9-D782DA9E601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4EE0D-55FA-3A27-3EC3-FC72F3367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0143B-0985-87D9-790F-31EAD8CB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5414-C09E-414B-B5A3-5939AD2CA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846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DDA71-B2F5-1047-283B-AB09DC6CE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4E07E-25A6-B55A-9D53-646B02A81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585EB-964E-9C2A-01D2-02DCF0446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8E98-469D-4687-81D9-D782DA9E601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FD826-121A-B974-6554-C424DBD58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3AC7F-35FA-4D09-F8E4-93D1DC161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5414-C09E-414B-B5A3-5939AD2CA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81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603D-713A-9DF0-6E19-77625FE26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8BD3D-D08D-69F7-4764-23560D43D0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077DEC-81A9-7488-AB1F-CCFE969F6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65BB9-EAD1-73B2-1A81-B697E7916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8E98-469D-4687-81D9-D782DA9E601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E5DBA-A593-8E84-1C0C-595126D1D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65377-4CFA-96A2-63D0-8FCDCBC14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5414-C09E-414B-B5A3-5939AD2CA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545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53162-454D-308E-8E14-7BFF98E04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1165D-6F9D-7A6E-2856-CDB6058FC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91ACB-7FA7-A587-A70A-981F9D28B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9DD84-F7B2-91E6-3893-BC00483757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29E8C4-1CB0-2B78-C2FE-E77052278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614A40-03C5-53E7-9058-8F9431EC6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8E98-469D-4687-81D9-D782DA9E601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F4DA1-E9AA-D254-F04D-76EDEA610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B199E6-3E1F-FC6A-6914-F673A094F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5414-C09E-414B-B5A3-5939AD2CA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505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1534B-AB6F-0478-00B1-18C44D264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C5FD75-DC8C-901C-6D29-DF8CAC6E5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8E98-469D-4687-81D9-D782DA9E601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1B122D-9AB0-CCA3-AFF0-8265BD8EA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697927-F708-F9BC-50A8-DCB6CF0CD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5414-C09E-414B-B5A3-5939AD2CA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71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84A25D-DF61-FA4E-0E0F-C4329939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8E98-469D-4687-81D9-D782DA9E601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AA6F6-56EE-A15F-9043-C26EB53AD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86F54-334A-CF85-B512-BF88C5EA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5414-C09E-414B-B5A3-5939AD2CA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60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BE9-5498-FE33-42A9-0EFDBAF25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0C35E-B472-31D4-5148-4FB978DE6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B6E7B-BE4B-9E36-4B9F-715F57E69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A0FA7-2C44-4D8A-6D80-3BA1884EF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8E98-469D-4687-81D9-D782DA9E601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0567C-7903-241B-0832-9004AF04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A9D27-A7B1-0B1F-9220-72341976E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5414-C09E-414B-B5A3-5939AD2CA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910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68EB6-577D-B824-7E32-8E693A8BF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4EB57-B50C-8BE3-509D-915CE51A6B8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8958A-0D4D-A091-08F0-655F851F8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C6CA8-C0BF-A393-8D7F-BFC51C452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8E98-469D-4687-81D9-D782DA9E601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9F1C6-4609-8A76-830E-B9D7872C8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E5C51-8EFA-85FF-F27E-935EF5A74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5414-C09E-414B-B5A3-5939AD2CA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716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C5D79-68A8-59FE-E446-BC67B75C6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9443ED-8688-745A-4311-1715E51C5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9A467-8464-5FAB-C12B-685C7FE64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8E98-469D-4687-81D9-D782DA9E601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218B5-E8F2-CE1A-2A5B-57CF9530D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60E96-8E46-CC1A-8337-C9BCCFEF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5414-C09E-414B-B5A3-5939AD2CA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083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94199C-CF25-5D10-C4FF-B7F177C5D2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1AA76-3A27-567B-8894-AF3E7C5B5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F684E-4019-B425-18F3-CA305FCC0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8E98-469D-4687-81D9-D782DA9E601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8E20B-2F41-C5BD-7A64-E980DDC91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C6E2D-A0A1-525A-8B0F-DD1C7DDA9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5414-C09E-414B-B5A3-5939AD2CA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137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5FC4DE-EE97-9C83-C61A-E1468AF6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DDF81-A366-9A10-BC66-CD3C014C2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3C3ED-FC91-001F-4D78-DBAF00C15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3D8E98-469D-4687-81D9-D782DA9E601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5F24E-4D39-FC17-5CEA-53200E155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8E0E-E792-0943-27C6-4B69E94B2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DC5414-C09E-414B-B5A3-5939AD2CA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34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465221"/>
            <a:ext cx="9144000" cy="4059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0C3571"/>
              </a:buClr>
              <a:buSzPts val="2800"/>
            </a:pPr>
            <a:br>
              <a:rPr lang="en-IN" sz="2800" b="1" dirty="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</a:br>
            <a:br>
              <a:rPr lang="en-IN" sz="2800" b="1" dirty="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</a:br>
            <a:br>
              <a:rPr lang="en-IN" sz="2800" b="1" dirty="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</a:br>
            <a:br>
              <a:rPr lang="en-IN" sz="2800" b="1" dirty="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</a:br>
            <a:br>
              <a:rPr lang="en-IN" sz="2800" b="1" dirty="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</a:br>
            <a:r>
              <a:rPr lang="en-IN" sz="4400" b="1" dirty="0">
                <a:solidFill>
                  <a:srgbClr val="0C35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Capstone Project 1 </a:t>
            </a:r>
            <a:br>
              <a:rPr lang="en-IN" sz="4400" b="1" dirty="0">
                <a:solidFill>
                  <a:srgbClr val="0C35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4400" b="1" dirty="0">
                <a:solidFill>
                  <a:srgbClr val="0C35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DETECTION USING CLASSIFICATION ALGORITHMS</a:t>
            </a:r>
            <a:br>
              <a:rPr lang="en-IN" sz="2400" dirty="0"/>
            </a:br>
            <a:endParaRPr sz="2400" b="1" dirty="0">
              <a:solidFill>
                <a:srgbClr val="0C35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C3571"/>
              </a:buClr>
              <a:buSzPts val="2800"/>
              <a:buFont typeface="Anta"/>
              <a:buNone/>
            </a:pPr>
            <a:endParaRPr sz="2300" b="1" dirty="0">
              <a:solidFill>
                <a:srgbClr val="0C357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C3571"/>
              </a:buClr>
              <a:buSzPts val="2800"/>
              <a:buFont typeface="Anta"/>
              <a:buNone/>
            </a:pPr>
            <a:br>
              <a:rPr lang="en-IN" sz="1400" b="1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522028" y="4225385"/>
            <a:ext cx="4125600" cy="246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0" i="0" u="none" strike="noStrike" cap="none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endParaRPr dirty="0"/>
          </a:p>
          <a:p>
            <a:r>
              <a:rPr lang="en-IN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T170800503 : Shubham Sadashiv Pawar</a:t>
            </a:r>
          </a:p>
          <a:p>
            <a:r>
              <a:rPr lang="en-IN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T170800530 : Amol Salvi</a:t>
            </a:r>
            <a:endParaRPr lang="en-IN" dirty="0"/>
          </a:p>
          <a:p>
            <a:r>
              <a:rPr lang="en-IN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T170800525: Abhishek </a:t>
            </a:r>
            <a:r>
              <a:rPr lang="en-IN" dirty="0" err="1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Bandaswami</a:t>
            </a:r>
            <a:endParaRPr lang="en-IN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IN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T170800524: Aakash Subramanian</a:t>
            </a:r>
          </a:p>
          <a:p>
            <a:endParaRPr lang="en-IN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endParaRPr sz="18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95476-109C-D826-0EAF-73B230025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9811"/>
            <a:ext cx="10515600" cy="548715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  <a:p>
            <a:pPr marL="0" indent="0">
              <a:buNone/>
            </a:pPr>
            <a:endParaRPr lang="en-IN" sz="5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lvl="0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</a:t>
            </a:r>
          </a:p>
          <a:p>
            <a:pPr lvl="0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 and Loading</a:t>
            </a:r>
          </a:p>
          <a:p>
            <a:pPr lvl="0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and Understanding</a:t>
            </a:r>
          </a:p>
          <a:p>
            <a:pPr lvl="0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  <a:p>
            <a:pPr lvl="0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Engineering</a:t>
            </a:r>
          </a:p>
          <a:p>
            <a:pPr lvl="0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and Training</a:t>
            </a:r>
          </a:p>
          <a:p>
            <a:pPr lvl="0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and Performance Analysis</a:t>
            </a:r>
          </a:p>
          <a:p>
            <a:pPr lvl="0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and Recommendations</a:t>
            </a:r>
          </a:p>
          <a:p>
            <a:pPr lvl="0"/>
            <a:r>
              <a:rPr lang="en-IN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Deployment</a:t>
            </a:r>
          </a:p>
          <a:p>
            <a:pPr lvl="0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Deployment</a:t>
            </a:r>
          </a:p>
          <a:p>
            <a:pPr lvl="0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86;p1">
            <a:extLst>
              <a:ext uri="{FF2B5EF4-FFF2-40B4-BE49-F238E27FC236}">
                <a16:creationId xmlns:a16="http://schemas.microsoft.com/office/drawing/2014/main" id="{EA2D5550-88A8-90D5-9794-218918BDB19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952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B3604-3180-0114-B2B3-E7F252CD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10C6F-BB2F-28C6-D869-5D86F6912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63" y="1424571"/>
            <a:ext cx="11032958" cy="5184775"/>
          </a:xfrm>
        </p:spPr>
        <p:txBody>
          <a:bodyPr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is one of the leading causes of death worldwide. Early detection can help healthcare professionals make timely and informed decisions.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develop machine learning classification models that predict the presence of heart disease using patients' demographic, clinical, and diagnostic information.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features such as age, sex, chest pain type, blood pressure, cholesterol, maximum heart rate, and other clinical indicators.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models will be evaluated and compared to identify a suitable approach for predicting heart disease.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early risk identification and assist healthcare professionals in decision-making. The model is intended as a decision-support tool, not a replacement for medical diagnosis.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86;p1">
            <a:extLst>
              <a:ext uri="{FF2B5EF4-FFF2-40B4-BE49-F238E27FC236}">
                <a16:creationId xmlns:a16="http://schemas.microsoft.com/office/drawing/2014/main" id="{28E941F3-9727-940B-CEAD-B888593DC9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131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7B31C-0FDC-2CD5-B3BF-2401E5B74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3E27D-5355-C473-7187-77D26DC59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180" y="1219200"/>
            <a:ext cx="11229474" cy="5518484"/>
          </a:xfrm>
        </p:spPr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supervised machine learning classification to predict the presence of heart disease.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400 patient records and 13 input features.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target variable is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heart_disease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0 indicates no heart disease and 1 indicates heart disease.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classification algorithms are considered: Logistic Regression, Decision Tree, Random Forest, and Support Vector Machine (SVM).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is evaluated using Recall, Precision, F1-score, ROC-AUC, Specificity, and Accuracy.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model can be integrated with 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and deployed using Docker.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comparative study of classification algorithms and a deployable heart disease prediction application.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86;p1">
            <a:extLst>
              <a:ext uri="{FF2B5EF4-FFF2-40B4-BE49-F238E27FC236}">
                <a16:creationId xmlns:a16="http://schemas.microsoft.com/office/drawing/2014/main" id="{591F2415-2755-3264-31C8-FD76A8626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5571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06ECC-8031-D4B2-5572-44DBDABDD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 and Loading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C8856-14CC-48B7-DBD7-744D65D65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1706"/>
            <a:ext cx="10936705" cy="5245768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Name: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heart_disease_dataset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400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13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Heart Disease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Type: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Binary Classification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Format: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CSV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Demographics, clinical measurements, ECG results, and exercise-related indicators.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Pandas is used to load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dataset.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86;p1">
            <a:extLst>
              <a:ext uri="{FF2B5EF4-FFF2-40B4-BE49-F238E27FC236}">
                <a16:creationId xmlns:a16="http://schemas.microsoft.com/office/drawing/2014/main" id="{57ABCF5C-D552-BC7C-9942-FAF66FE20D9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0981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DDF2A-23F9-936E-C152-042BE1CE7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and Understanding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B0374-EBD5-FFFA-E9F5-5FFCD2723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40453" cy="4667250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400 patient records and 13 input features.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Heart Disease (present/absent).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demographic, clinical, and diagnostic data.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is loaded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Pandas.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Data Checks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 data using head() and info().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dataset dimensions using shape.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missing values and duplicates.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statistics using describe().</a:t>
            </a:r>
          </a:p>
          <a:p>
            <a:pPr lvl="0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target class distribution.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86;p1">
            <a:extLst>
              <a:ext uri="{FF2B5EF4-FFF2-40B4-BE49-F238E27FC236}">
                <a16:creationId xmlns:a16="http://schemas.microsoft.com/office/drawing/2014/main" id="{D6CAF430-8D47-6059-5CD8-C0FF8824AFA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408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FC96F-7296-DF95-D106-E711DCE10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73B0B-9AC5-E3A8-BC28-AF5E86C28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distributions of age, cholesterol, blood pressure, and heart rate.</a:t>
            </a:r>
          </a:p>
          <a:p>
            <a:pPr lvl="0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relationships between numerical features.</a:t>
            </a:r>
          </a:p>
          <a:p>
            <a:pPr lvl="0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potential outliers in clinical measurements.</a:t>
            </a:r>
          </a:p>
          <a:p>
            <a:pPr lvl="0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Plots: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heart disease case distribution.</a:t>
            </a:r>
          </a:p>
          <a:p>
            <a:pPr lvl="0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and chest pain patterns may indicate heart disease risk.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heart rate and ST depression may help distinguish classes.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class balance affects model performance.</a:t>
            </a:r>
          </a:p>
          <a:p>
            <a:pPr lvl="0">
              <a:lnSpc>
                <a:spcPct val="1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86;p1">
            <a:extLst>
              <a:ext uri="{FF2B5EF4-FFF2-40B4-BE49-F238E27FC236}">
                <a16:creationId xmlns:a16="http://schemas.microsoft.com/office/drawing/2014/main" id="{C9A008A7-37E0-1628-A484-D65D956304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1001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9642D-06D2-0FDA-410D-944F94FD7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Engineering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56966-B1EF-122E-56C4-87170DCF4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261" y="1403684"/>
            <a:ext cx="11213431" cy="5454316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missing values and handle them if present.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and Outlier Checks: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duplicates and examine extreme values.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 valid clinical observations.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 features for Logistic Regression and SVM.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 the scaler on training data only.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 into 80% training (320 records) and 20% testing (80 records).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fixed random seed and stratification.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and Target Separation: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13 patient features.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Heart disease (0 or 1).</a:t>
            </a:r>
          </a:p>
          <a:p>
            <a:pPr>
              <a:lnSpc>
                <a:spcPct val="12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86;p1">
            <a:extLst>
              <a:ext uri="{FF2B5EF4-FFF2-40B4-BE49-F238E27FC236}">
                <a16:creationId xmlns:a16="http://schemas.microsoft.com/office/drawing/2014/main" id="{52CC9D3A-D690-8A08-0E6C-8E72A876722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4051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7BB3-8F97-012C-DEE2-D3B83A6F1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435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and Training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919A4-6512-341E-72AB-F5E1E36F8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68" y="1134812"/>
            <a:ext cx="11378184" cy="535806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Predicts the probability of heart disease and serves as a baseline model.</a:t>
            </a:r>
          </a:p>
          <a:p>
            <a:pPr lvl="0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feature-based decision rules and provides easy-to-understand predictions.</a:t>
            </a:r>
          </a:p>
          <a:p>
            <a:pPr lvl="0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multiple decision trees to improve prediction accuracy and reliability.</a:t>
            </a:r>
          </a:p>
          <a:p>
            <a:pPr lvl="0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Finds an optimal boundary to separate heart disease classes, with feature scaling for better performance.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Process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dataset into 80% training and 20% testing, train all four models, predict outcomes, and compare performance using accuracy, precision, recall, and F1-score.</a:t>
            </a:r>
          </a:p>
          <a:p>
            <a:pPr>
              <a:lnSpc>
                <a:spcPct val="1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86;p1">
            <a:extLst>
              <a:ext uri="{FF2B5EF4-FFF2-40B4-BE49-F238E27FC236}">
                <a16:creationId xmlns:a16="http://schemas.microsoft.com/office/drawing/2014/main" id="{62908BA4-29C3-6525-78F5-2447F49BC07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1267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00F52-B6E2-ADA9-E567-62FEC1381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and Performance Analysis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A63DE-9C25-2345-1EDD-3DDB5F4F1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47" y="1395662"/>
            <a:ext cx="10876548" cy="532597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 Identifies actual heart disease cases correctly.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Measures the correctness of positive predictions.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 Balances precision and recall.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ROC-AUC: Measures the model’s ability to distinguish between classes.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&amp; Specificity: Evaluate overall correctness and identification of negative cases.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Analysis: Use confusion matrices and ROC curves to compare models, paying special attention to false negatives.</a:t>
            </a:r>
          </a:p>
          <a:p>
            <a:pPr>
              <a:lnSpc>
                <a:spcPct val="1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86;p1">
            <a:extLst>
              <a:ext uri="{FF2B5EF4-FFF2-40B4-BE49-F238E27FC236}">
                <a16:creationId xmlns:a16="http://schemas.microsoft.com/office/drawing/2014/main" id="{42394128-B0E1-1B3D-BA8C-A15DC2AE208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7834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0648F-916A-9691-04E6-6BA80EB56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and Recommendations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CC2A16-36B8-5287-91C6-D067894CB5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6176514"/>
              </p:ext>
            </p:extLst>
          </p:nvPr>
        </p:nvGraphicFramePr>
        <p:xfrm>
          <a:off x="433137" y="1812758"/>
          <a:ext cx="11133220" cy="44115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6644">
                  <a:extLst>
                    <a:ext uri="{9D8B030D-6E8A-4147-A177-3AD203B41FA5}">
                      <a16:colId xmlns:a16="http://schemas.microsoft.com/office/drawing/2014/main" val="3581971611"/>
                    </a:ext>
                  </a:extLst>
                </a:gridCol>
                <a:gridCol w="2226644">
                  <a:extLst>
                    <a:ext uri="{9D8B030D-6E8A-4147-A177-3AD203B41FA5}">
                      <a16:colId xmlns:a16="http://schemas.microsoft.com/office/drawing/2014/main" val="2367518459"/>
                    </a:ext>
                  </a:extLst>
                </a:gridCol>
                <a:gridCol w="2226644">
                  <a:extLst>
                    <a:ext uri="{9D8B030D-6E8A-4147-A177-3AD203B41FA5}">
                      <a16:colId xmlns:a16="http://schemas.microsoft.com/office/drawing/2014/main" val="2116809070"/>
                    </a:ext>
                  </a:extLst>
                </a:gridCol>
                <a:gridCol w="2226644">
                  <a:extLst>
                    <a:ext uri="{9D8B030D-6E8A-4147-A177-3AD203B41FA5}">
                      <a16:colId xmlns:a16="http://schemas.microsoft.com/office/drawing/2014/main" val="1668766940"/>
                    </a:ext>
                  </a:extLst>
                </a:gridCol>
                <a:gridCol w="2226644">
                  <a:extLst>
                    <a:ext uri="{9D8B030D-6E8A-4147-A177-3AD203B41FA5}">
                      <a16:colId xmlns:a16="http://schemas.microsoft.com/office/drawing/2014/main" val="712750635"/>
                    </a:ext>
                  </a:extLst>
                </a:gridCol>
              </a:tblGrid>
              <a:tr h="882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ROC-AUC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970125"/>
                  </a:ext>
                </a:extLst>
              </a:tr>
              <a:tr h="882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0</a:t>
                      </a:r>
                      <a:r>
                        <a:rPr lang="en-IN" dirty="0"/>
                        <a:t>.914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[Result]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[Result]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[Result]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5489879"/>
                  </a:ext>
                </a:extLst>
              </a:tr>
              <a:tr h="882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[Result]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[Result]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[Result]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[Result]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202361"/>
                  </a:ext>
                </a:extLst>
              </a:tr>
              <a:tr h="882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[Result]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[Result]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[Result]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[Result]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5960219"/>
                  </a:ext>
                </a:extLst>
              </a:tr>
              <a:tr h="882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[Result]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[Result]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[Result]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[Result]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8482198"/>
                  </a:ext>
                </a:extLst>
              </a:tr>
            </a:tbl>
          </a:graphicData>
        </a:graphic>
      </p:graphicFrame>
      <p:pic>
        <p:nvPicPr>
          <p:cNvPr id="6" name="Google Shape;86;p1">
            <a:extLst>
              <a:ext uri="{FF2B5EF4-FFF2-40B4-BE49-F238E27FC236}">
                <a16:creationId xmlns:a16="http://schemas.microsoft.com/office/drawing/2014/main" id="{F1DCC20C-9ADF-47C0-D205-0B0EBA31BF7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62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716B1-9C3E-2B9D-69B1-C90FD8AA1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355B-CF66-3C93-5E6B-EC824E2C1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and Recommendations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oogle Shape;86;p1">
            <a:extLst>
              <a:ext uri="{FF2B5EF4-FFF2-40B4-BE49-F238E27FC236}">
                <a16:creationId xmlns:a16="http://schemas.microsoft.com/office/drawing/2014/main" id="{056A3A3F-60E2-B6F7-B283-6EF6807589E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1623056-26F0-E2C2-0538-2972E5E159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5828844"/>
              </p:ext>
            </p:extLst>
          </p:nvPr>
        </p:nvGraphicFramePr>
        <p:xfrm>
          <a:off x="722377" y="1690688"/>
          <a:ext cx="10881360" cy="45272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365257936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7060959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64665887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87005490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19245641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38253351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493827764"/>
                    </a:ext>
                  </a:extLst>
                </a:gridCol>
              </a:tblGrid>
              <a:tr h="624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7505658"/>
                  </a:ext>
                </a:extLst>
              </a:tr>
              <a:tr h="1092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487084"/>
                  </a:ext>
                </a:extLst>
              </a:tr>
              <a:tr h="1092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154275"/>
                  </a:ext>
                </a:extLst>
              </a:tr>
              <a:tr h="1092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546383"/>
                  </a:ext>
                </a:extLst>
              </a:tr>
              <a:tr h="624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246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7548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1E015-F511-1F1F-9ABA-E3358A5CC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Deployment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C71FC-1678-6375-3E16-069A92305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488" y="1876928"/>
            <a:ext cx="11585448" cy="429928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Saving: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 the trained model and preprocessing objects.</a:t>
            </a:r>
          </a:p>
          <a:p>
            <a:pPr lvl="0">
              <a:lnSpc>
                <a:spcPct val="100000"/>
              </a:lnSpc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an API endpoint for heart disease prediction.</a:t>
            </a:r>
          </a:p>
          <a:p>
            <a:pPr lvl="0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 patient features and required values.</a:t>
            </a:r>
          </a:p>
          <a:p>
            <a:pPr lvl="0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the same transformations used during training.</a:t>
            </a:r>
          </a:p>
          <a:p>
            <a:pPr lvl="0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Output: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 the predicted class and probability, if available.</a:t>
            </a:r>
          </a:p>
          <a:p>
            <a:pPr lvl="0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Data → API → Preprocessing → Model → Prediction.</a:t>
            </a:r>
          </a:p>
          <a:p>
            <a:pPr lvl="0">
              <a:lnSpc>
                <a:spcPct val="1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API Workflow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Features →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Endpoint → Preprocessing → Trained Model → Prediction Response</a:t>
            </a:r>
          </a:p>
          <a:p>
            <a:pPr lvl="0">
              <a:lnSpc>
                <a:spcPct val="1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86;p1">
            <a:extLst>
              <a:ext uri="{FF2B5EF4-FFF2-40B4-BE49-F238E27FC236}">
                <a16:creationId xmlns:a16="http://schemas.microsoft.com/office/drawing/2014/main" id="{AB86237F-7724-B965-267F-3FB88BD0FBE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0055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171C8-07AB-1504-7004-45DA45044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Deployment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841E9-CC59-6DED-CDD1-93211B1C7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Containerizing the Application</a:t>
            </a:r>
          </a:p>
          <a:p>
            <a:pPr lvl="0">
              <a:lnSpc>
                <a:spcPct val="100000"/>
              </a:lnSpc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the application environment and startup instructions.</a:t>
            </a:r>
          </a:p>
          <a:p>
            <a:pPr lvl="0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Dependencies: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 required libraries in requirements.txt.</a:t>
            </a:r>
          </a:p>
          <a:p>
            <a:pPr lvl="0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Files: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 API code, trained model, and preprocessing files.</a:t>
            </a:r>
          </a:p>
          <a:p>
            <a:pPr lvl="0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&amp; Run: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the Docker image and start the container.</a:t>
            </a:r>
          </a:p>
          <a:p>
            <a:pPr lvl="0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Verify API functionality inside the container.</a:t>
            </a:r>
          </a:p>
          <a:p>
            <a:pPr lvl="0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consistent environments, portability, and easier deployment.</a:t>
            </a:r>
          </a:p>
          <a:p>
            <a:pPr>
              <a:lnSpc>
                <a:spcPct val="1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86;p1">
            <a:extLst>
              <a:ext uri="{FF2B5EF4-FFF2-40B4-BE49-F238E27FC236}">
                <a16:creationId xmlns:a16="http://schemas.microsoft.com/office/drawing/2014/main" id="{1493E7BC-E01A-B4AD-2850-F835A5520F6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389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39A93-F367-552B-1CC4-D9AECC324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88C64-7B54-F8BF-6049-EA32C45B0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 machine learning model to predict heart disease using 400 patient records and 13 features.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EDA 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patterns and clinical relationships.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four algorithms: Logistic Regression, Decision Tree, Random Forest, and SVM.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models using Accuracy, Precision, Recall, F1-score, and ROC-AUC.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Docker for model deployment.</a:t>
            </a:r>
          </a:p>
          <a:p>
            <a:pPr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Outcome: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end-to-end machine learning prototype for heart disease risk prediction and decision support.</a:t>
            </a:r>
          </a:p>
          <a:p>
            <a:pPr>
              <a:lnSpc>
                <a:spcPct val="100000"/>
              </a:lnSpc>
            </a:pPr>
            <a:endParaRPr lang="en-IN" dirty="0"/>
          </a:p>
        </p:txBody>
      </p:sp>
      <p:pic>
        <p:nvPicPr>
          <p:cNvPr id="5" name="Google Shape;86;p1">
            <a:extLst>
              <a:ext uri="{FF2B5EF4-FFF2-40B4-BE49-F238E27FC236}">
                <a16:creationId xmlns:a16="http://schemas.microsoft.com/office/drawing/2014/main" id="{A16C3B71-95EA-86BE-3ED8-2F35B80B0B0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6390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/>
        </p:nvSpPr>
        <p:spPr>
          <a:xfrm>
            <a:off x="903457" y="673906"/>
            <a:ext cx="103851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Queries ???</a:t>
            </a:r>
            <a:br>
              <a:rPr lang="en-IN" sz="80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" name="Google Shape;17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1218</Words>
  <Application>Microsoft Office PowerPoint</Application>
  <PresentationFormat>Widescreen</PresentationFormat>
  <Paragraphs>190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Anta</vt:lpstr>
      <vt:lpstr>Aptos</vt:lpstr>
      <vt:lpstr>Aptos Display</vt:lpstr>
      <vt:lpstr>Arial</vt:lpstr>
      <vt:lpstr>Times New Roman</vt:lpstr>
      <vt:lpstr>Office Theme</vt:lpstr>
      <vt:lpstr>     Capstone Project 1   HEART DISEASE DETECTION USING CLASSIFICATION ALGORITHMS    </vt:lpstr>
      <vt:lpstr>PowerPoint Presentation</vt:lpstr>
      <vt:lpstr>Problem Statement </vt:lpstr>
      <vt:lpstr>Overview of the Project </vt:lpstr>
      <vt:lpstr>Data Generation and Loading </vt:lpstr>
      <vt:lpstr>Data Exploration and Understanding </vt:lpstr>
      <vt:lpstr>Exploratory Data Analysis (EDA) </vt:lpstr>
      <vt:lpstr>Data Preprocessing and Feature Engineering </vt:lpstr>
      <vt:lpstr>Model Building and Training </vt:lpstr>
      <vt:lpstr>Model Evaluation and Performance Analysis </vt:lpstr>
      <vt:lpstr>Model Comparison and Recommendations </vt:lpstr>
      <vt:lpstr>Model Comparison and Recommendations </vt:lpstr>
      <vt:lpstr>FastAPI Deployment </vt:lpstr>
      <vt:lpstr>Docker Deployment 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s.aakash7747@gmail.com</dc:creator>
  <cp:lastModifiedBy>s.aakash7747@gmail.com</cp:lastModifiedBy>
  <cp:revision>1</cp:revision>
  <dcterms:created xsi:type="dcterms:W3CDTF">2026-10-19T14:48:29Z</dcterms:created>
  <dcterms:modified xsi:type="dcterms:W3CDTF">2026-10-19T15:36:30Z</dcterms:modified>
</cp:coreProperties>
</file>